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3fe7fa56be4f10" /><Relationship Type="http://schemas.openxmlformats.org/officeDocument/2006/relationships/extended-properties" Target="/docProps/app.xml" Id="R0bf4e0dc1f454434" /><Relationship Type="http://schemas.openxmlformats.org/officeDocument/2006/relationships/officeDocument" Target="/ppt/presentation.xml" Id="R7cb232fac4a844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3614aaaff347d4"/>
  </p:sldMasterIdLst>
  <p:notesMasterIdLst>
    <p:notesMasterId xmlns:r="http://schemas.openxmlformats.org/officeDocument/2006/relationships" r:id="Rdc161abb1fdc4bc8"/>
  </p:notesMasterIdLst>
  <p:sldIdLst>
    <p:sldId xmlns:r="http://schemas.openxmlformats.org/officeDocument/2006/relationships" id="256" r:id="R5b2f3bec02a248c9"/>
    <p:sldId xmlns:r="http://schemas.openxmlformats.org/officeDocument/2006/relationships" id="257" r:id="Rf62f9845a2124798"/>
    <p:sldId xmlns:r="http://schemas.openxmlformats.org/officeDocument/2006/relationships" id="258" r:id="R1f074cd49d7f486f"/>
    <p:sldId xmlns:r="http://schemas.openxmlformats.org/officeDocument/2006/relationships" id="259" r:id="R27e83cd70a474afe"/>
    <p:sldId xmlns:r="http://schemas.openxmlformats.org/officeDocument/2006/relationships" id="260" r:id="Re6ed967ff58e40d3"/>
    <p:sldId xmlns:r="http://schemas.openxmlformats.org/officeDocument/2006/relationships" id="261" r:id="R2a4be33e288f42b6"/>
    <p:sldId xmlns:r="http://schemas.openxmlformats.org/officeDocument/2006/relationships" id="262" r:id="R9417f671ce4d449f"/>
    <p:sldId xmlns:r="http://schemas.openxmlformats.org/officeDocument/2006/relationships" id="263" r:id="Rfd52ea82ef8143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14e86a1a984043" /><Relationship Type="http://schemas.openxmlformats.org/officeDocument/2006/relationships/slideMaster" Target="/ppt/slideMasters/slideMaster1.xml" Id="R963614aaaff347d4" /><Relationship Type="http://schemas.openxmlformats.org/officeDocument/2006/relationships/notesMaster" Target="/ppt/notesMasters/notesMaster1.xml" Id="Rdc161abb1fdc4bc8" /><Relationship Type="http://schemas.openxmlformats.org/officeDocument/2006/relationships/presProps" Target="/ppt/presProps.xml" Id="R4a74296685914c16" /><Relationship Type="http://schemas.openxmlformats.org/officeDocument/2006/relationships/tableStyles" Target="/ppt/tableStyles.xml" Id="R7cfcbd55ed694556" /><Relationship Type="http://schemas.openxmlformats.org/officeDocument/2006/relationships/slide" Target="/ppt/slides/slide1.xml" Id="R5b2f3bec02a248c9" /><Relationship Type="http://schemas.openxmlformats.org/officeDocument/2006/relationships/slide" Target="/ppt/slides/slide2.xml" Id="Rf62f9845a2124798" /><Relationship Type="http://schemas.openxmlformats.org/officeDocument/2006/relationships/slide" Target="/ppt/slides/slide3.xml" Id="R1f074cd49d7f486f" /><Relationship Type="http://schemas.openxmlformats.org/officeDocument/2006/relationships/slide" Target="/ppt/slides/slide4.xml" Id="R27e83cd70a474afe" /><Relationship Type="http://schemas.openxmlformats.org/officeDocument/2006/relationships/slide" Target="/ppt/slides/slide5.xml" Id="Re6ed967ff58e40d3" /><Relationship Type="http://schemas.openxmlformats.org/officeDocument/2006/relationships/slide" Target="/ppt/slides/slide6.xml" Id="R2a4be33e288f42b6" /><Relationship Type="http://schemas.openxmlformats.org/officeDocument/2006/relationships/slide" Target="/ppt/slides/slide7.xml" Id="R9417f671ce4d449f" /><Relationship Type="http://schemas.openxmlformats.org/officeDocument/2006/relationships/slide" Target="/ppt/slides/slide8.xml" Id="Rfd52ea82ef8143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b63f2813f643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b22d00ad01485a" /><Relationship Type="http://schemas.openxmlformats.org/officeDocument/2006/relationships/notesMaster" Target="/ppt/notesMasters/notesMaster1.xml" Id="R47cd8a550af64a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bfe5c1907b47c3" /><Relationship Type="http://schemas.openxmlformats.org/officeDocument/2006/relationships/notesMaster" Target="/ppt/notesMasters/notesMaster1.xml" Id="R8529fc9d812a4d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5456ff81144415" /><Relationship Type="http://schemas.openxmlformats.org/officeDocument/2006/relationships/notesMaster" Target="/ppt/notesMasters/notesMaster1.xml" Id="R0079d857d3b44d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ebcb596b0f442d" /><Relationship Type="http://schemas.openxmlformats.org/officeDocument/2006/relationships/notesMaster" Target="/ppt/notesMasters/notesMaster1.xml" Id="R75d815e86ea746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f9ace4a0d6476e" /><Relationship Type="http://schemas.openxmlformats.org/officeDocument/2006/relationships/notesMaster" Target="/ppt/notesMasters/notesMaster1.xml" Id="R4097ecf4f51543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d87a344f104321" /><Relationship Type="http://schemas.openxmlformats.org/officeDocument/2006/relationships/notesMaster" Target="/ppt/notesMasters/notesMaster1.xml" Id="R1d3c6fe1294d4c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1a69833d634fbf" /><Relationship Type="http://schemas.openxmlformats.org/officeDocument/2006/relationships/notesMaster" Target="/ppt/notesMasters/notesMaster1.xml" Id="R0696b457ae4f46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8d829bfb654447" /><Relationship Type="http://schemas.openxmlformats.org/officeDocument/2006/relationships/notesMaster" Target="/ppt/notesMasters/notesMaster1.xml" Id="Rd98dde2959dc4f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title to preview the module’s purpose. Ask students to connect it with the previous module.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all three theory sections. Ask students to predict how the ideas connect.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Translate the brief into criteria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Plan the complete signal path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Test against predictions in plain language. Pause after each stage and ask students to predict the next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aloud or on paper. Do not reveal website quiz answers; use responses to decide which theory section to revisit.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 full answer. Direct students back to the precise section and ask which evidence actually answers the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quick written or verbal exit ticket. The response should show the module idea, not merely repeat a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Crack the Code Classroom and teacher-master Drive materials.</a:t>
            </a:r>
          </a:p>
          <a:p xmlns:a="http://schemas.openxmlformats.org/drawingml/2006/main">
            <a:r>
              <a:t>- NSW Technology 7–8 Syllabus (2023): https://curriculum.nsw.edu.au/learning-areas/tas/technology-7-8-2023/outcomes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020f09eb84e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16376f2cbd4ba7" /><Relationship Type="http://schemas.openxmlformats.org/officeDocument/2006/relationships/slideLayout" Target="/ppt/slideLayouts/slideLayout1.xml" Id="R6c8d56731e454a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8d56731e454a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7215309a44382" /><Relationship Type="http://schemas.openxmlformats.org/officeDocument/2006/relationships/notesSlide" Target="/ppt/notesSlides/notesSlide1.xml" Id="R3422bab1ca8b4a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8b048f72b4fe2" /><Relationship Type="http://schemas.openxmlformats.org/officeDocument/2006/relationships/notesSlide" Target="/ppt/notesSlides/notesSlide2.xml" Id="Re8decfee9f4049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f860d0f794a78" /><Relationship Type="http://schemas.openxmlformats.org/officeDocument/2006/relationships/notesSlide" Target="/ppt/notesSlides/notesSlide3.xml" Id="R3a245ac3f5924d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95281cd2b438d" /><Relationship Type="http://schemas.openxmlformats.org/officeDocument/2006/relationships/notesSlide" Target="/ppt/notesSlides/notesSlide4.xml" Id="R242fed0affd540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106531e704b45" /><Relationship Type="http://schemas.openxmlformats.org/officeDocument/2006/relationships/notesSlide" Target="/ppt/notesSlides/notesSlide5.xml" Id="R48b2d77bea284b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1bc9ce52c4f86" /><Relationship Type="http://schemas.openxmlformats.org/officeDocument/2006/relationships/notesSlide" Target="/ppt/notesSlides/notesSlide6.xml" Id="R5fb44ff517384f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ca9926ad44d39" /><Relationship Type="http://schemas.openxmlformats.org/officeDocument/2006/relationships/notesSlide" Target="/ppt/notesSlides/notesSlide7.xml" Id="R02ed6954071448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59b372ebd4905" /><Relationship Type="http://schemas.openxmlformats.org/officeDocument/2006/relationships/notesSlide" Target="/ppt/notesSlides/notesSlide8.xml" Id="R3b2e4e1a8fb24a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20F6B-5DC8-463F-96F0-DF316714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FF"/>
                </a:solidFill>
              </a:defRPr>
            </a:pPr>
            <a:r>
              <a:rPr sz="1350" b="1">
                <a:solidFill>
                  <a:srgbClr val="38D9FF"/>
                </a:solidFill>
              </a:rPr>
              <a:t>MODULE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8FCA1-0AF1-48A8-96C5-A1784F17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Design the final alarm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1A0DA-3ADD-4309-B84D-F8211389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E6EE"/>
                </a:solidFill>
              </a:defRPr>
            </a:pPr>
            <a:r>
              <a:rPr sz="1875" b="0">
                <a:solidFill>
                  <a:srgbClr val="C9E6EE"/>
                </a:solidFill>
              </a:rPr>
              <a:t>Translate the brief into aligned plans and tests.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770F5-FBB0-4CCD-B879-CFF83E1C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</a:defRPr>
            </a:pPr>
            <a:r>
              <a:rPr sz="1125" b="1">
                <a:solidFill>
                  <a:srgbClr val="FFB84D"/>
                </a:solidFill>
              </a:rPr>
              <a:t>TEN-WEEK YEAR 7–8 TECHNOLOGY COURSE</a:t>
            </a:r>
          </a:p>
        </p:txBody>
      </p:sp>
    </p:spTree>
    <p:extLst>
      <p:ext uri="{BB962C8B-B14F-4D97-AF65-F5344CB8AC3E}">
        <p14:creationId xmlns:p14="http://schemas.microsoft.com/office/powerpoint/2010/main" val="452481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D84A4-7A9A-440C-B7CC-C74DE00D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6A8EC-E120-4445-AF14-4BD25F76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ROADMAP  ·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6E8FB-24B0-4488-9E5D-CBD44117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A2B"/>
                </a:solidFill>
              </a:defRPr>
            </a:pPr>
            <a:r>
              <a:rPr sz="3000" b="1">
                <a:solidFill>
                  <a:srgbClr val="071A2B"/>
                </a:solidFill>
              </a:rPr>
              <a:t>Three ideas build one stronger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7702F-8ADD-449A-A6FB-691B386E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77B14-BB35-4A21-BCCA-D4226DFD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Translate the brief into criteria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D07B0-892C-461F-90E3-B32F7897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A useful criterion names observable behaviour and a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BC866-B624-4E09-9136-9E5F137B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AE630-403F-4253-940B-52154C4B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Plan the complete signal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A80A0-D1F6-49E7-9985-82B9917D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Pin map, IPO, pseudocode and flowchart must agree.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54092-42D8-4311-8412-80CD4C8A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84D"/>
                </a:solidFill>
              </a:defRPr>
            </a:pPr>
            <a:r>
              <a:rPr sz="2550" b="1">
                <a:solidFill>
                  <a:srgbClr val="FFB84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086A6-DCA5-4E70-A742-BBF85450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Test against predictions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DBBCF-4BE3-4AC2-BDC0-5DF5A34A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B7B"/>
                </a:solidFill>
              </a:defRPr>
            </a:pPr>
            <a:r>
              <a:rPr sz="1350" b="0">
                <a:solidFill>
                  <a:srgbClr val="536B7B"/>
                </a:solidFill>
              </a:rPr>
              <a:t>Each case records condition, expected result and actual result.</a:t>
            </a:r>
          </a:p>
        </p:txBody>
      </p:sp>
    </p:spTree>
    <p:extLst>
      <p:ext uri="{BB962C8B-B14F-4D97-AF65-F5344CB8AC3E}">
        <p14:creationId xmlns:p14="http://schemas.microsoft.com/office/powerpoint/2010/main" val="216212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59326-BD7B-4CBD-BA30-25BC73BE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07380-FBB0-4BE9-825A-C6AC243A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9.1  ·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667A4-78AB-4E13-BFA9-E99E028A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Translate the brief into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739C2-CD57-48E5-A3BE-8AB1E615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A useful criterion names observable behaviour and a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C2335-F7B5-4097-B2F0-53892057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52600-952D-4675-9051-C1F53790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402A9-65F0-4C08-ACBB-868F41B6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AB817-F452-4B4F-A158-270E76C8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53464-F669-4BE7-A8BE-1C2D6346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CRITERION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6CC21-B343-42BF-AFFC-0C46958C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BB6E1-764E-4DF5-B549-6196DAC6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007CF-CE43-4F19-8F31-45C15893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FFDA1-D6DD-4715-B276-9068235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2094303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9214C-7A16-4776-A747-9C78E9EA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B4A10-CF04-4650-81BC-32965639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9.2  ·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113D6-B2E2-4741-B403-791DB13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Plan the complete signal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DC11B-8C73-4791-96D7-F0EFCEB7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Pin map, IPO, pseudocode and flowchart must agree.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025B1-3947-4BE7-A12A-8ED05FA1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44F87-015A-4B3D-9F45-814176CE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PIN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E9DFE-0EB4-4C21-B7A9-32AE67DA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B70BD-3CDA-4EF9-BF0F-DC95DD6F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84AA4-7BD1-4410-89EB-899121F3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AE64B-1BEA-4BCF-9BD8-77CF22A2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88830-47B8-4681-A416-06B7A5FE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DC217-C076-419E-8AD8-724BD2DC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0C46C-3223-4D2B-94AA-7C5EF83E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4226989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FB07F-930A-43F3-8E6C-BD956177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C0C9C-246F-4377-937E-27459D76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SECTION 9.3  ·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D7F4F-ED45-4C9D-B0F6-9603D1E3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Test against predictions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3F673-8D71-4CC1-A7CD-8056EE70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E8F0"/>
                </a:solidFill>
              </a:defRPr>
            </a:pPr>
            <a:r>
              <a:rPr sz="1875" b="0">
                <a:solidFill>
                  <a:srgbClr val="CBE8F0"/>
                </a:solidFill>
              </a:rPr>
              <a:t>Each case records condition, expected result and actual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08A68-E92B-4D81-BFE5-3ABA9C13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2F4FB-3CA7-49F7-9789-A3F8BCE4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39E64-1818-459F-80C1-4A46435F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8F55C-74D2-4D60-8089-A203BA58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D692C-DE57-4BFC-BBF9-F8BFC58C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F48B8-D2B7-485D-8A0C-88799092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EB94D-D072-46F5-BE42-0163D060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410AC-8D0F-4AF8-B732-BBBCE9C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433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F118C-4ACC-4F83-B468-525FC1A2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7D8E2"/>
                </a:solidFill>
              </a:defRPr>
            </a:pPr>
            <a:r>
              <a:rPr sz="1425" b="0">
                <a:solidFill>
                  <a:srgbClr val="B7D8E2"/>
                </a:solidFill>
              </a:rPr>
              <a:t>Use the diagram to explain the signal, decision or evidence path in order.</a:t>
            </a:r>
          </a:p>
        </p:txBody>
      </p:sp>
    </p:spTree>
    <p:extLst>
      <p:ext uri="{BB962C8B-B14F-4D97-AF65-F5344CB8AC3E}">
        <p14:creationId xmlns:p14="http://schemas.microsoft.com/office/powerpoint/2010/main" val="1251245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05F37-1E59-4E4C-9209-ABCD42E3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F17F0-2929-44DD-9CB3-7A68D71A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LEARNING CHECK  ·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A569A-55AC-424D-BD47-778F757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A2B"/>
                </a:solidFill>
              </a:defRPr>
            </a:pPr>
            <a:r>
              <a:rPr sz="2850" b="1">
                <a:solidFill>
                  <a:srgbClr val="071A2B"/>
                </a:solidFill>
              </a:rPr>
              <a:t>Retrieve before you return to the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9D739-1CB7-47E2-A124-4BDDE7D2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32AEA-CABC-4C47-AFC5-799223BF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What makes a criterion testable?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D65DF-AEA6-4DE5-A829-1C4B37C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2BAB4-5A23-442E-8D3D-C65AA7F7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Which fixed pins must appear in the plan?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EA5DB-CEBB-4343-80A6-04D1BABC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FD268-A357-4D6C-8276-58229C60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Why cross-check every representation?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AD7E0-E530-45FC-A475-426CFCA9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A2B"/>
                </a:solidFill>
              </a:defRPr>
            </a:pPr>
            <a:r>
              <a:rPr sz="1950" b="1">
                <a:solidFill>
                  <a:srgbClr val="071A2B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A5F99-6FFB-4187-9FB0-750288F0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B"/>
                </a:solidFill>
              </a:defRPr>
            </a:pPr>
            <a:r>
              <a:rPr sz="1650" b="0">
                <a:solidFill>
                  <a:srgbClr val="10283B"/>
                </a:solidFill>
              </a:rPr>
              <a:t>Which test proves recovery from alert to normal?</a:t>
            </a:r>
          </a:p>
        </p:txBody>
      </p:sp>
    </p:spTree>
    <p:extLst>
      <p:ext uri="{BB962C8B-B14F-4D97-AF65-F5344CB8AC3E}">
        <p14:creationId xmlns:p14="http://schemas.microsoft.com/office/powerpoint/2010/main" val="171301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BA555-B4E0-4E02-A220-B6893470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7D8F2-E473-47CF-A6F0-5D2192F9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WRITTEN RESPONSE  ·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ADBA7-7717-4E05-9B9F-F6BF56D9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Read → Select → Explain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340E8-DE5E-4043-97F0-C95F243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D9EE3-1E7F-40CB-B333-C865C916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 THE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0765C-13D9-49E7-AAC8-CC7129BA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B3B90-1982-4933-9A7C-241F4879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0B6076"/>
          </a:solidFill>
          <a:ln xmlns:a="http://schemas.openxmlformats.org/drawingml/2006/main" w="19050">
            <a:solidFill>
              <a:srgbClr val="FFB8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CBB1E-5B51-4ABC-8566-79E69877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SELECT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16208-5FC5-4DB6-AB15-119B3F65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B84D"/>
                </a:solidFill>
              </a:defRPr>
            </a:pPr>
            <a:r>
              <a:rPr sz="3375" b="1">
                <a:solidFill>
                  <a:srgbClr val="FFB84D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3D6F4-C425-4041-AF85-3A9EAF1E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095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44C"/>
          </a:solidFill>
          <a:ln xmlns:a="http://schemas.openxmlformats.org/drawingml/2006/main" w="19050">
            <a:solidFill>
              <a:srgbClr val="38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48A8E-731E-4EDB-8883-4B180EAC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EXPLAIN +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3292A-4641-4F47-8F00-036954F0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84D"/>
                </a:solidFill>
              </a:defRPr>
            </a:pPr>
            <a:r>
              <a:rPr sz="1875" b="1">
                <a:solidFill>
                  <a:srgbClr val="FFB84D"/>
                </a:solidFill>
              </a:rPr>
              <a:t>Sentence frame: The evidence shows… because… therefore…</a:t>
            </a:r>
          </a:p>
        </p:txBody>
      </p:sp>
    </p:spTree>
    <p:extLst>
      <p:ext uri="{BB962C8B-B14F-4D97-AF65-F5344CB8AC3E}">
        <p14:creationId xmlns:p14="http://schemas.microsoft.com/office/powerpoint/2010/main" val="8995827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60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6EFFA-AB44-46EF-9EC1-5DE7F433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FF"/>
                </a:solidFill>
              </a:defRPr>
            </a:pPr>
            <a:r>
              <a:rPr sz="1125" b="1">
                <a:solidFill>
                  <a:srgbClr val="38D9FF"/>
                </a:solidFill>
              </a:rPr>
              <a:t>CRACK THE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0CAA0-650A-492F-B106-AF6EE81F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EC6D2"/>
                </a:solidFill>
              </a:defRPr>
            </a:pPr>
            <a:r>
              <a:rPr sz="1050" b="0">
                <a:solidFill>
                  <a:srgbClr val="AEC6D2"/>
                </a:solidFill>
              </a:rPr>
              <a:t>EXIT TICKET  ·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9D449-FA0A-4BED-9E1B-98E688CC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Prove the idea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1E63A-5F8F-4FC0-A412-2AA59979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Write one boundary test and its expected outputs.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B9E6C-4E41-4C2D-B31C-1025DA82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D3F2F8"/>
                </a:solidFill>
              </a:defRPr>
            </a:pPr>
            <a:r>
              <a:rPr sz="1650" b="0">
                <a:solidFill>
                  <a:srgbClr val="D3F2F8"/>
                </a:solidFill>
              </a:rPr>
              <a:t>Then open the linked project activity and save one specific piece of evidence.</a:t>
            </a:r>
          </a:p>
        </p:txBody>
      </p:sp>
    </p:spTree>
    <p:extLst>
      <p:ext uri="{BB962C8B-B14F-4D97-AF65-F5344CB8AC3E}">
        <p14:creationId xmlns:p14="http://schemas.microsoft.com/office/powerpoint/2010/main" val="1022237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2026-08-10T16:18:02.2360000Z</dcterms:created>
  <dcterms:modified xsi:type="dcterms:W3CDTF">2026-08-10T16:18:02.2360000Z</dcterms:modified>
</coreProperties>
</file>