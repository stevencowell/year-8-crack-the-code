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da10af1ef24494" /><Relationship Type="http://schemas.openxmlformats.org/officeDocument/2006/relationships/extended-properties" Target="/docProps/app.xml" Id="R50aec7bbc3cd48a2" /><Relationship Type="http://schemas.openxmlformats.org/officeDocument/2006/relationships/officeDocument" Target="/ppt/presentation.xml" Id="Rd2ee9af797be40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d73fcb37d04961"/>
  </p:sldMasterIdLst>
  <p:notesMasterIdLst>
    <p:notesMasterId xmlns:r="http://schemas.openxmlformats.org/officeDocument/2006/relationships" r:id="R3c23ba790fab42c3"/>
  </p:notesMasterIdLst>
  <p:sldIdLst>
    <p:sldId xmlns:r="http://schemas.openxmlformats.org/officeDocument/2006/relationships" id="256" r:id="R918518b0cef94837"/>
    <p:sldId xmlns:r="http://schemas.openxmlformats.org/officeDocument/2006/relationships" id="257" r:id="Rd1f86e47d6a648a2"/>
    <p:sldId xmlns:r="http://schemas.openxmlformats.org/officeDocument/2006/relationships" id="258" r:id="Rc6c0cc0011474cd7"/>
    <p:sldId xmlns:r="http://schemas.openxmlformats.org/officeDocument/2006/relationships" id="259" r:id="Rbbd61b134a8b4426"/>
    <p:sldId xmlns:r="http://schemas.openxmlformats.org/officeDocument/2006/relationships" id="260" r:id="R2faead450f7844d7"/>
    <p:sldId xmlns:r="http://schemas.openxmlformats.org/officeDocument/2006/relationships" id="261" r:id="R83b8979d06e14387"/>
    <p:sldId xmlns:r="http://schemas.openxmlformats.org/officeDocument/2006/relationships" id="262" r:id="R1375f1f5d8d946ef"/>
    <p:sldId xmlns:r="http://schemas.openxmlformats.org/officeDocument/2006/relationships" id="263" r:id="R72cc87a7616c476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e83182891b44364" /><Relationship Type="http://schemas.openxmlformats.org/officeDocument/2006/relationships/slideMaster" Target="/ppt/slideMasters/slideMaster1.xml" Id="Re1d73fcb37d04961" /><Relationship Type="http://schemas.openxmlformats.org/officeDocument/2006/relationships/notesMaster" Target="/ppt/notesMasters/notesMaster1.xml" Id="R3c23ba790fab42c3" /><Relationship Type="http://schemas.openxmlformats.org/officeDocument/2006/relationships/presProps" Target="/ppt/presProps.xml" Id="R5d009f09af714085" /><Relationship Type="http://schemas.openxmlformats.org/officeDocument/2006/relationships/tableStyles" Target="/ppt/tableStyles.xml" Id="R75d346e1fc494294" /><Relationship Type="http://schemas.openxmlformats.org/officeDocument/2006/relationships/slide" Target="/ppt/slides/slide1.xml" Id="R918518b0cef94837" /><Relationship Type="http://schemas.openxmlformats.org/officeDocument/2006/relationships/slide" Target="/ppt/slides/slide2.xml" Id="Rd1f86e47d6a648a2" /><Relationship Type="http://schemas.openxmlformats.org/officeDocument/2006/relationships/slide" Target="/ppt/slides/slide3.xml" Id="Rc6c0cc0011474cd7" /><Relationship Type="http://schemas.openxmlformats.org/officeDocument/2006/relationships/slide" Target="/ppt/slides/slide4.xml" Id="Rbbd61b134a8b4426" /><Relationship Type="http://schemas.openxmlformats.org/officeDocument/2006/relationships/slide" Target="/ppt/slides/slide5.xml" Id="R2faead450f7844d7" /><Relationship Type="http://schemas.openxmlformats.org/officeDocument/2006/relationships/slide" Target="/ppt/slides/slide6.xml" Id="R83b8979d06e14387" /><Relationship Type="http://schemas.openxmlformats.org/officeDocument/2006/relationships/slide" Target="/ppt/slides/slide7.xml" Id="R1375f1f5d8d946ef" /><Relationship Type="http://schemas.openxmlformats.org/officeDocument/2006/relationships/slide" Target="/ppt/slides/slide8.xml" Id="R72cc87a7616c47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0690f31972541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0dddf3403c4748" /><Relationship Type="http://schemas.openxmlformats.org/officeDocument/2006/relationships/notesMaster" Target="/ppt/notesMasters/notesMaster1.xml" Id="Raba7c2499aa743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452001e54ee4c8e" /><Relationship Type="http://schemas.openxmlformats.org/officeDocument/2006/relationships/notesMaster" Target="/ppt/notesMasters/notesMaster1.xml" Id="Rb57c6c55fbf8471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280a7856b2d4e89" /><Relationship Type="http://schemas.openxmlformats.org/officeDocument/2006/relationships/notesMaster" Target="/ppt/notesMasters/notesMaster1.xml" Id="R6d297f3758164b9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10d5a01ce7e4429" /><Relationship Type="http://schemas.openxmlformats.org/officeDocument/2006/relationships/notesMaster" Target="/ppt/notesMasters/notesMaster1.xml" Id="R9e154af1a1f348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8d6013b585c4ce6" /><Relationship Type="http://schemas.openxmlformats.org/officeDocument/2006/relationships/notesMaster" Target="/ppt/notesMasters/notesMaster1.xml" Id="R8a82a5bfdb3447a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75ee9cc66d4c7a" /><Relationship Type="http://schemas.openxmlformats.org/officeDocument/2006/relationships/notesMaster" Target="/ppt/notesMasters/notesMaster1.xml" Id="Re9efa7e256514d8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0d4371b894a449b" /><Relationship Type="http://schemas.openxmlformats.org/officeDocument/2006/relationships/notesMaster" Target="/ppt/notesMasters/notesMaster1.xml" Id="R7e2183d6504d475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ebb12d6541347e4" /><Relationship Type="http://schemas.openxmlformats.org/officeDocument/2006/relationships/notesMaster" Target="/ppt/notesMasters/notesMaster1.xml" Id="Rb23c7baab3f649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title to preview the module’s purpose. Ask students to connect it with the previous module.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Crack the Code Classroom and teacher-master Drive materials.</a:t>
            </a:r>
          </a:p>
          <a:p xmlns:a="http://schemas.openxmlformats.org/drawingml/2006/main">
            <a:r>
              <a:t>- NSW Technology 7–8 Syllabus (2023): https://curriculum.nsw.edu.au/learning-areas/tas/technology-7-8-2023/outcomes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all three theory sections. Ask students to predict how the ideas connect.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Crack the Code Classroom and teacher-master Drive materials.</a:t>
            </a:r>
          </a:p>
          <a:p xmlns:a="http://schemas.openxmlformats.org/drawingml/2006/main">
            <a:r>
              <a:t>- NSW Technology 7–8 Syllabus (2023): https://curriculum.nsw.edu.au/learning-areas/tas/technology-7-8-2023/outcomes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Arrays organise values in plain language. Pause after each stage and ask students to predict the next link.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Crack the Code Classroom and teacher-master Drive materials.</a:t>
            </a:r>
          </a:p>
          <a:p xmlns:a="http://schemas.openxmlformats.org/drawingml/2006/main">
            <a:r>
              <a:t>- NSW Technology 7–8 Syllabus (2023): https://curriculum.nsw.edu.au/learning-areas/tas/technology-7-8-2023/outcomes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Loops reduce repetition in plain language. Pause after each stage and ask students to predict the next link.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Crack the Code Classroom and teacher-master Drive materials.</a:t>
            </a:r>
          </a:p>
          <a:p xmlns:a="http://schemas.openxmlformats.org/drawingml/2006/main">
            <a:r>
              <a:t>- NSW Technology 7–8 Syllabus (2023): https://curriculum.nsw.edu.au/learning-areas/tas/technology-7-8-2023/outcomes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Decompose before debugging in plain language. Pause after each stage and ask students to predict the next link.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Crack the Code Classroom and teacher-master Drive materials.</a:t>
            </a:r>
          </a:p>
          <a:p xmlns:a="http://schemas.openxmlformats.org/drawingml/2006/main">
            <a:r>
              <a:t>- NSW Technology 7–8 Syllabus (2023): https://curriculum.nsw.edu.au/learning-areas/tas/technology-7-8-2023/outcomes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answer aloud or on paper. Do not reveal website quiz answers; use responses to decide which theory section to revisit.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Crack the Code Classroom and teacher-master Drive materials.</a:t>
            </a:r>
          </a:p>
          <a:p xmlns:a="http://schemas.openxmlformats.org/drawingml/2006/main">
            <a:r>
              <a:t>- NSW Technology 7–8 Syllabus (2023): https://curriculum.nsw.edu.au/learning-areas/tas/technology-7-8-2023/outcomes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response process without supplying a full answer. Direct students back to the precise section and ask which evidence actually answers the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Crack the Code Classroom and teacher-master Drive materials.</a:t>
            </a:r>
          </a:p>
          <a:p xmlns:a="http://schemas.openxmlformats.org/drawingml/2006/main">
            <a:r>
              <a:t>- NSW Technology 7–8 Syllabus (2023): https://curriculum.nsw.edu.au/learning-areas/tas/technology-7-8-2023/outcomes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a quick written or verbal exit ticket. The response should show the module idea, not merely repeat a definition.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Crack the Code Classroom and teacher-master Drive materials.</a:t>
            </a:r>
          </a:p>
          <a:p xmlns:a="http://schemas.openxmlformats.org/drawingml/2006/main">
            <a:r>
              <a:t>- NSW Technology 7–8 Syllabus (2023): https://curriculum.nsw.edu.au/learning-areas/tas/technology-7-8-2023/outcomes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475f2511af42a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29a12497944eb9" /><Relationship Type="http://schemas.openxmlformats.org/officeDocument/2006/relationships/slideLayout" Target="/ppt/slideLayouts/slideLayout1.xml" Id="Rff90e6c65a4e495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90e6c65a4e49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eede33f94441bf" /><Relationship Type="http://schemas.openxmlformats.org/officeDocument/2006/relationships/notesSlide" Target="/ppt/notesSlides/notesSlide1.xml" Id="R46d993a3a0ca4f0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493350c77c443c" /><Relationship Type="http://schemas.openxmlformats.org/officeDocument/2006/relationships/notesSlide" Target="/ppt/notesSlides/notesSlide2.xml" Id="Rf10e6e31246e415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d3cc4e8e464abe" /><Relationship Type="http://schemas.openxmlformats.org/officeDocument/2006/relationships/notesSlide" Target="/ppt/notesSlides/notesSlide3.xml" Id="R3966974384a84b3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1a4d3931e44288" /><Relationship Type="http://schemas.openxmlformats.org/officeDocument/2006/relationships/notesSlide" Target="/ppt/notesSlides/notesSlide4.xml" Id="R95ef59210f8a4ab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ad4d7f12b545ce" /><Relationship Type="http://schemas.openxmlformats.org/officeDocument/2006/relationships/notesSlide" Target="/ppt/notesSlides/notesSlide5.xml" Id="R464cc11383ca46a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864d2497874c11" /><Relationship Type="http://schemas.openxmlformats.org/officeDocument/2006/relationships/notesSlide" Target="/ppt/notesSlides/notesSlide6.xml" Id="R3ab7369117124af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471bac98814898" /><Relationship Type="http://schemas.openxmlformats.org/officeDocument/2006/relationships/notesSlide" Target="/ppt/notesSlides/notesSlide7.xml" Id="R4075dd4c278f4c8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2e5930742644fc" /><Relationship Type="http://schemas.openxmlformats.org/officeDocument/2006/relationships/notesSlide" Target="/ppt/notesSlides/notesSlide8.xml" Id="R0bd2fa5a4cfb44d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E6104C-23D2-496B-A54F-DA9E27939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D9FF"/>
                </a:solidFill>
              </a:defRPr>
            </a:pPr>
            <a:r>
              <a:rPr sz="1350" b="1">
                <a:solidFill>
                  <a:srgbClr val="38D9FF"/>
                </a:solidFill>
              </a:rPr>
              <a:t>MODULE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C716F6-3081-4A46-BF7F-A4DC7AF09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90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Combine parts into systems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107823-A781-45FF-8C44-4B24662B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762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9E6EE"/>
                </a:solidFill>
              </a:defRPr>
            </a:pPr>
            <a:r>
              <a:rPr sz="1875" b="0">
                <a:solidFill>
                  <a:srgbClr val="C9E6EE"/>
                </a:solidFill>
              </a:rPr>
              <a:t>Organise repeated work and isolate subsystems.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BEE67C-65BA-4CD3-9BBD-76DD8C16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B84D"/>
                </a:solidFill>
              </a:defRPr>
            </a:pPr>
            <a:r>
              <a:rPr sz="1125" b="1">
                <a:solidFill>
                  <a:srgbClr val="FFB84D"/>
                </a:solidFill>
              </a:rPr>
              <a:t>TEN-WEEK YEAR 7–8 TECHNOLOGY COURSE</a:t>
            </a:r>
          </a:p>
        </p:txBody>
      </p:sp>
    </p:spTree>
    <p:extLst>
      <p:ext uri="{BB962C8B-B14F-4D97-AF65-F5344CB8AC3E}">
        <p14:creationId xmlns:p14="http://schemas.microsoft.com/office/powerpoint/2010/main" val="15519505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730AFE-2124-411E-B53E-D4075B1A0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D9FF"/>
                </a:solidFill>
              </a:defRPr>
            </a:pPr>
            <a:r>
              <a:rPr sz="1125" b="1">
                <a:solidFill>
                  <a:srgbClr val="38D9FF"/>
                </a:solidFill>
              </a:rPr>
              <a:t>CRACK THE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6FA819-F24A-4FFD-95FA-48C54341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EC6D2"/>
                </a:solidFill>
              </a:defRPr>
            </a:pPr>
            <a:r>
              <a:rPr sz="1050" b="0">
                <a:solidFill>
                  <a:srgbClr val="AEC6D2"/>
                </a:solidFill>
              </a:rPr>
              <a:t>ROADMAP  ·  2/8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70DA38-1B89-4BF9-BB7A-7D90D2C0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71A2B"/>
                </a:solidFill>
              </a:defRPr>
            </a:pPr>
            <a:r>
              <a:rPr sz="3000" b="1">
                <a:solidFill>
                  <a:srgbClr val="071A2B"/>
                </a:solidFill>
              </a:rPr>
              <a:t>Three ideas build one stronger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33B27B-42ED-467E-971A-40618753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B84D"/>
                </a:solidFill>
              </a:defRPr>
            </a:pPr>
            <a:r>
              <a:rPr sz="2550" b="1">
                <a:solidFill>
                  <a:srgbClr val="FFB84D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402409-7D32-41D5-88B6-CB11DEAA8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1A2B"/>
                </a:solidFill>
              </a:defRPr>
            </a:pPr>
            <a:r>
              <a:rPr sz="1950" b="1">
                <a:solidFill>
                  <a:srgbClr val="071A2B"/>
                </a:solidFill>
              </a:rPr>
              <a:t>Arrays organise values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A835E4-9AE4-441B-8442-67B95E39A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3048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B7B"/>
                </a:solidFill>
              </a:defRPr>
            </a:pPr>
            <a:r>
              <a:rPr sz="1350" b="0">
                <a:solidFill>
                  <a:srgbClr val="536B7B"/>
                </a:solidFill>
              </a:rPr>
              <a:t>Six LED pins occupy indexes 0 to 5.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D65137-A507-4AEE-A502-7B7821E92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478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B84D"/>
                </a:solidFill>
              </a:defRPr>
            </a:pPr>
            <a:r>
              <a:rPr sz="2550" b="1">
                <a:solidFill>
                  <a:srgbClr val="FFB84D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D3A35A-1B5D-4665-B413-7B332E3C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1462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1A2B"/>
                </a:solidFill>
              </a:defRPr>
            </a:pPr>
            <a:r>
              <a:rPr sz="1950" b="1">
                <a:solidFill>
                  <a:srgbClr val="071A2B"/>
                </a:solidFill>
              </a:rPr>
              <a:t>Loops reduce repetition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0C1A4E-0EDC-4FFD-9DBD-091E57C7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62375"/>
            <a:ext cx="3048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B7B"/>
                </a:solidFill>
              </a:defRPr>
            </a:pPr>
            <a:r>
              <a:rPr sz="1350" b="0">
                <a:solidFill>
                  <a:srgbClr val="536B7B"/>
                </a:solidFill>
              </a:rPr>
              <a:t>A bounded counter applies one operation across the array.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6AC8C5-70DA-463E-9F04-B9E71A66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478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B84D"/>
                </a:solidFill>
              </a:defRPr>
            </a:pPr>
            <a:r>
              <a:rPr sz="2550" b="1">
                <a:solidFill>
                  <a:srgbClr val="FFB84D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87F9C3-1DDE-44B7-9102-4EDA875E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1462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1A2B"/>
                </a:solidFill>
              </a:defRPr>
            </a:pPr>
            <a:r>
              <a:rPr sz="1950" b="1">
                <a:solidFill>
                  <a:srgbClr val="071A2B"/>
                </a:solidFill>
              </a:rPr>
              <a:t>Decompose before debugging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82B821-F0BE-47E2-BE93-49904CE2F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62375"/>
            <a:ext cx="3048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B7B"/>
                </a:solidFill>
              </a:defRPr>
            </a:pPr>
            <a:r>
              <a:rPr sz="1350" b="0">
                <a:solidFill>
                  <a:srgbClr val="536B7B"/>
                </a:solidFill>
              </a:rPr>
              <a:t>Test input, processing and output stages separately.</a:t>
            </a:r>
          </a:p>
        </p:txBody>
      </p:sp>
    </p:spTree>
    <p:extLst>
      <p:ext uri="{BB962C8B-B14F-4D97-AF65-F5344CB8AC3E}">
        <p14:creationId xmlns:p14="http://schemas.microsoft.com/office/powerpoint/2010/main" val="14351583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2CFA21-3F76-407C-8A3F-849693BAB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D9FF"/>
                </a:solidFill>
              </a:defRPr>
            </a:pPr>
            <a:r>
              <a:rPr sz="1125" b="1">
                <a:solidFill>
                  <a:srgbClr val="38D9FF"/>
                </a:solidFill>
              </a:rPr>
              <a:t>CRACK THE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522D02-DDFE-41CF-AA6F-81A00DE5C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EC6D2"/>
                </a:solidFill>
              </a:defRPr>
            </a:pPr>
            <a:r>
              <a:rPr sz="1050" b="0">
                <a:solidFill>
                  <a:srgbClr val="AEC6D2"/>
                </a:solidFill>
              </a:rPr>
              <a:t>SECTION 8.1  ·  3/8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F631E3-E9DA-416D-85EB-E178ABDCA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Arrays organise values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07E9E6-7C89-4221-8999-D6C71ABF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BE8F0"/>
                </a:solidFill>
              </a:defRPr>
            </a:pPr>
            <a:r>
              <a:rPr sz="1875" b="0">
                <a:solidFill>
                  <a:srgbClr val="CBE8F0"/>
                </a:solidFill>
              </a:rPr>
              <a:t>Six LED pins occupy indexes 0 to 5.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5593D4-1B41-49C3-8D67-FF7B0060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2344C"/>
          </a:solidFill>
          <a:ln xmlns:a="http://schemas.openxmlformats.org/drawingml/2006/main" w="19050">
            <a:solidFill>
              <a:srgbClr val="38D9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822301-0888-4B30-92A5-64965E4BF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INDEX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7E4B62-4B79-4B96-894C-3F280541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671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FB84D"/>
                </a:solidFill>
              </a:defRPr>
            </a:pPr>
            <a:r>
              <a:rPr sz="3375" b="1">
                <a:solidFill>
                  <a:srgbClr val="FFB84D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21FA6F-E9CB-48F0-85B2-7529BEA0C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0B6076"/>
          </a:solidFill>
          <a:ln xmlns:a="http://schemas.openxmlformats.org/drawingml/2006/main" w="19050">
            <a:solidFill>
              <a:srgbClr val="FFB8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A2F957-41F8-4653-9ADB-C1BF5545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VALUE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975FD1-3981-44A7-8A1B-25980569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671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FB84D"/>
                </a:solidFill>
              </a:defRPr>
            </a:pPr>
            <a:r>
              <a:rPr sz="3375" b="1">
                <a:solidFill>
                  <a:srgbClr val="FFB84D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E1943E-5FC4-4830-85F2-751F2AC5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2344C"/>
          </a:solidFill>
          <a:ln xmlns:a="http://schemas.openxmlformats.org/drawingml/2006/main" w="19050">
            <a:solidFill>
              <a:srgbClr val="38D9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79035E-F200-4486-A6DB-9B4C5F33C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PIN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C53EBB-A2D0-4B76-84F5-DBB5C564F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B7D8E2"/>
                </a:solidFill>
              </a:defRPr>
            </a:pPr>
            <a:r>
              <a:rPr sz="1425" b="0">
                <a:solidFill>
                  <a:srgbClr val="B7D8E2"/>
                </a:solidFill>
              </a:rPr>
              <a:t>Use the diagram to explain the signal, decision or evidence path in order.</a:t>
            </a:r>
          </a:p>
        </p:txBody>
      </p:sp>
    </p:spTree>
    <p:extLst>
      <p:ext uri="{BB962C8B-B14F-4D97-AF65-F5344CB8AC3E}">
        <p14:creationId xmlns:p14="http://schemas.microsoft.com/office/powerpoint/2010/main" val="17383615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3C9D14-1A53-4AD4-8B33-59CDC9547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D9FF"/>
                </a:solidFill>
              </a:defRPr>
            </a:pPr>
            <a:r>
              <a:rPr sz="1125" b="1">
                <a:solidFill>
                  <a:srgbClr val="38D9FF"/>
                </a:solidFill>
              </a:rPr>
              <a:t>CRACK THE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7398CF-76DF-4135-9DF6-9E33565F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EC6D2"/>
                </a:solidFill>
              </a:defRPr>
            </a:pPr>
            <a:r>
              <a:rPr sz="1050" b="0">
                <a:solidFill>
                  <a:srgbClr val="AEC6D2"/>
                </a:solidFill>
              </a:rPr>
              <a:t>SECTION 8.2  ·  4/8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DF2619-6EBF-4AD7-BDD6-55798F1F1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Loops reduce repetition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F313A7-E7A5-4E0A-A366-35136036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BE8F0"/>
                </a:solidFill>
              </a:defRPr>
            </a:pPr>
            <a:r>
              <a:rPr sz="1875" b="0">
                <a:solidFill>
                  <a:srgbClr val="CBE8F0"/>
                </a:solidFill>
              </a:rPr>
              <a:t>A bounded counter applies one operation across the array.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A1C04C-E676-4F28-AF58-4412F66C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2344C"/>
          </a:solidFill>
          <a:ln xmlns:a="http://schemas.openxmlformats.org/drawingml/2006/main" w="19050">
            <a:solidFill>
              <a:srgbClr val="38D9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180E88-77DD-44BF-A7F0-46F7E1E98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START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466AC9-4E62-4C18-A0E4-F41C9E82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671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FB84D"/>
                </a:solidFill>
              </a:defRPr>
            </a:pPr>
            <a:r>
              <a:rPr sz="3375" b="1">
                <a:solidFill>
                  <a:srgbClr val="FFB84D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E6056D-DE46-4D4E-B7AE-7C2411715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0B6076"/>
          </a:solidFill>
          <a:ln xmlns:a="http://schemas.openxmlformats.org/drawingml/2006/main" w="19050">
            <a:solidFill>
              <a:srgbClr val="FFB8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0B582B-AD6F-4349-AE47-A547A5BC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REPEAT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DD7CE8-E550-4834-AB45-957064196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671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FB84D"/>
                </a:solidFill>
              </a:defRPr>
            </a:pPr>
            <a:r>
              <a:rPr sz="3375" b="1">
                <a:solidFill>
                  <a:srgbClr val="FFB84D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0E2631-781C-4593-ADD5-ED8E3401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2344C"/>
          </a:solidFill>
          <a:ln xmlns:a="http://schemas.openxmlformats.org/drawingml/2006/main" w="19050">
            <a:solidFill>
              <a:srgbClr val="38D9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ED0C0F-C113-4F73-B4DE-6E3A7F8D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STOP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52D56A-0235-41EA-A1F9-84446184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B7D8E2"/>
                </a:solidFill>
              </a:defRPr>
            </a:pPr>
            <a:r>
              <a:rPr sz="1425" b="0">
                <a:solidFill>
                  <a:srgbClr val="B7D8E2"/>
                </a:solidFill>
              </a:rPr>
              <a:t>Use the diagram to explain the signal, decision or evidence path in order.</a:t>
            </a:r>
          </a:p>
        </p:txBody>
      </p:sp>
    </p:spTree>
    <p:extLst>
      <p:ext uri="{BB962C8B-B14F-4D97-AF65-F5344CB8AC3E}">
        <p14:creationId xmlns:p14="http://schemas.microsoft.com/office/powerpoint/2010/main" val="18339580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6104F2-A352-47F0-B884-0B9D12C2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D9FF"/>
                </a:solidFill>
              </a:defRPr>
            </a:pPr>
            <a:r>
              <a:rPr sz="1125" b="1">
                <a:solidFill>
                  <a:srgbClr val="38D9FF"/>
                </a:solidFill>
              </a:rPr>
              <a:t>CRACK THE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751B3B-1F0A-44F1-827D-F6E3906B3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EC6D2"/>
                </a:solidFill>
              </a:defRPr>
            </a:pPr>
            <a:r>
              <a:rPr sz="1050" b="0">
                <a:solidFill>
                  <a:srgbClr val="AEC6D2"/>
                </a:solidFill>
              </a:rPr>
              <a:t>SECTION 8.3  ·  5/8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0E56FF-E5C4-43DB-8438-9BFFB3477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Decompose before debugging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146759-D949-40AA-BB09-30A7E0802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BE8F0"/>
                </a:solidFill>
              </a:defRPr>
            </a:pPr>
            <a:r>
              <a:rPr sz="1875" b="0">
                <a:solidFill>
                  <a:srgbClr val="CBE8F0"/>
                </a:solidFill>
              </a:rPr>
              <a:t>Test input, processing and output stages separately.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F2F1FA-ABD9-49EC-8D89-5CCAFBF33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2344C"/>
          </a:solidFill>
          <a:ln xmlns:a="http://schemas.openxmlformats.org/drawingml/2006/main" w="19050">
            <a:solidFill>
              <a:srgbClr val="38D9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2C2361-8837-46FE-80A7-C68A13460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INPUT TEST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1E6ABF-4B36-4DCD-9DFE-1A52DEEB3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671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FB84D"/>
                </a:solidFill>
              </a:defRPr>
            </a:pPr>
            <a:r>
              <a:rPr sz="3375" b="1">
                <a:solidFill>
                  <a:srgbClr val="FFB84D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CB1B7C-C16E-44F0-9CBA-6446772D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0B6076"/>
          </a:solidFill>
          <a:ln xmlns:a="http://schemas.openxmlformats.org/drawingml/2006/main" w="19050">
            <a:solidFill>
              <a:srgbClr val="FFB8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5E07C7-0359-4B38-A1DD-F6F27D8A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PROCESS TEST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6B65B5-4CE2-45A5-9221-D9B5C5F9D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671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FB84D"/>
                </a:solidFill>
              </a:defRPr>
            </a:pPr>
            <a:r>
              <a:rPr sz="3375" b="1">
                <a:solidFill>
                  <a:srgbClr val="FFB84D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E7F9BB-49A1-4FAA-A72D-535BC2EB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2344C"/>
          </a:solidFill>
          <a:ln xmlns:a="http://schemas.openxmlformats.org/drawingml/2006/main" w="19050">
            <a:solidFill>
              <a:srgbClr val="38D9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65B84D-1A4B-4A91-9A06-B5E08872D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OUTPUT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87F40A-CCCC-4A0D-9538-AA26AE46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B7D8E2"/>
                </a:solidFill>
              </a:defRPr>
            </a:pPr>
            <a:r>
              <a:rPr sz="1425" b="0">
                <a:solidFill>
                  <a:srgbClr val="B7D8E2"/>
                </a:solidFill>
              </a:rPr>
              <a:t>Use the diagram to explain the signal, decision or evidence path in order.</a:t>
            </a:r>
          </a:p>
        </p:txBody>
      </p:sp>
    </p:spTree>
    <p:extLst>
      <p:ext uri="{BB962C8B-B14F-4D97-AF65-F5344CB8AC3E}">
        <p14:creationId xmlns:p14="http://schemas.microsoft.com/office/powerpoint/2010/main" val="18890291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6618F0-8B05-4FF2-89DD-D6F5A8124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D9FF"/>
                </a:solidFill>
              </a:defRPr>
            </a:pPr>
            <a:r>
              <a:rPr sz="1125" b="1">
                <a:solidFill>
                  <a:srgbClr val="38D9FF"/>
                </a:solidFill>
              </a:rPr>
              <a:t>CRACK THE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F347E2-A22A-49E8-BF87-3CC2A91D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EC6D2"/>
                </a:solidFill>
              </a:defRPr>
            </a:pPr>
            <a:r>
              <a:rPr sz="1050" b="0">
                <a:solidFill>
                  <a:srgbClr val="AEC6D2"/>
                </a:solidFill>
              </a:rPr>
              <a:t>LEARNING CHECK  ·  6/8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819992-153A-47B7-891A-4F0B49A71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A2B"/>
                </a:solidFill>
              </a:defRPr>
            </a:pPr>
            <a:r>
              <a:rPr sz="2850" b="1">
                <a:solidFill>
                  <a:srgbClr val="071A2B"/>
                </a:solidFill>
              </a:rPr>
              <a:t>Retrieve before you return to the website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1EB0FA-3EB4-40BC-A9D0-5D0B65F42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71A2B"/>
                </a:solidFill>
              </a:defRPr>
            </a:pPr>
            <a:r>
              <a:rPr sz="1950" b="1">
                <a:solidFill>
                  <a:srgbClr val="071A2B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2F4C63-ECDF-4C07-A549-A3AAD109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097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83B"/>
                </a:solidFill>
              </a:defRPr>
            </a:pPr>
            <a:r>
              <a:rPr sz="1650" b="0">
                <a:solidFill>
                  <a:srgbClr val="10283B"/>
                </a:solidFill>
              </a:rPr>
              <a:t>What is the first array index?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6271D0-159E-4AE7-9204-5165A5890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987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71A2B"/>
                </a:solidFill>
              </a:defRPr>
            </a:pPr>
            <a:r>
              <a:rPr sz="1950" b="1">
                <a:solidFill>
                  <a:srgbClr val="071A2B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6EA06D-18EB-433E-B6EF-8F4E5D8C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09875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83B"/>
                </a:solidFill>
              </a:defRPr>
            </a:pPr>
            <a:r>
              <a:rPr sz="1650" b="0">
                <a:solidFill>
                  <a:srgbClr val="10283B"/>
                </a:solidFill>
              </a:rPr>
              <a:t>Why is 6 outside a six-item array?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F444A3-C7BA-44A4-AF51-B66A6A331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71A2B"/>
                </a:solidFill>
              </a:defRPr>
            </a:pPr>
            <a:r>
              <a:rPr sz="1950" b="1">
                <a:solidFill>
                  <a:srgbClr val="071A2B"/>
                </a:solidFill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927D0A-702C-48BB-9BB1-09F5E0AF2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1000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83B"/>
                </a:solidFill>
              </a:defRPr>
            </a:pPr>
            <a:r>
              <a:rPr sz="1650" b="0">
                <a:solidFill>
                  <a:srgbClr val="10283B"/>
                </a:solidFill>
              </a:rPr>
              <a:t>How many iterations occur while i &lt; 6?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63EAFE-3022-49F5-93D9-9C56B219D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012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71A2B"/>
                </a:solidFill>
              </a:defRPr>
            </a:pPr>
            <a:r>
              <a:rPr sz="1950" b="1">
                <a:solidFill>
                  <a:srgbClr val="071A2B"/>
                </a:solidFill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93C62E-0BA3-40A3-BEA2-0A1BBAAB5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10125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83B"/>
                </a:solidFill>
              </a:defRPr>
            </a:pPr>
            <a:r>
              <a:rPr sz="1650" b="0">
                <a:solidFill>
                  <a:srgbClr val="10283B"/>
                </a:solidFill>
              </a:rPr>
              <a:t>Which subsystem should be tested after input data is proven?</a:t>
            </a:r>
          </a:p>
        </p:txBody>
      </p:sp>
    </p:spTree>
    <p:extLst>
      <p:ext uri="{BB962C8B-B14F-4D97-AF65-F5344CB8AC3E}">
        <p14:creationId xmlns:p14="http://schemas.microsoft.com/office/powerpoint/2010/main" val="8323014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EE4BD2-58D7-40C3-82B2-9658E8DC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D9FF"/>
                </a:solidFill>
              </a:defRPr>
            </a:pPr>
            <a:r>
              <a:rPr sz="1125" b="1">
                <a:solidFill>
                  <a:srgbClr val="38D9FF"/>
                </a:solidFill>
              </a:rPr>
              <a:t>CRACK THE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6540EE-F18E-401E-A934-C2A827103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EC6D2"/>
                </a:solidFill>
              </a:defRPr>
            </a:pPr>
            <a:r>
              <a:rPr sz="1050" b="0">
                <a:solidFill>
                  <a:srgbClr val="AEC6D2"/>
                </a:solidFill>
              </a:rPr>
              <a:t>WRITTEN RESPONSE  ·  7/8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B0D27D-4295-4236-8E8E-34D3FE8A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Read → Select → Explain → Check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F1F969-25B6-42C8-8195-C476C1B35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2344C"/>
          </a:solidFill>
          <a:ln xmlns:a="http://schemas.openxmlformats.org/drawingml/2006/main" w="19050">
            <a:solidFill>
              <a:srgbClr val="38D9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CF869D-F798-4F57-92E7-7D20A045A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718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READ THE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D86FFB-5DCE-4D3D-8069-E6BC892D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956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FB84D"/>
                </a:solidFill>
              </a:defRPr>
            </a:pPr>
            <a:r>
              <a:rPr sz="3375" b="1">
                <a:solidFill>
                  <a:srgbClr val="FFB84D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0089CA-EDDC-44E3-AD85-0746DB272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717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0B6076"/>
          </a:solidFill>
          <a:ln xmlns:a="http://schemas.openxmlformats.org/drawingml/2006/main" w="19050">
            <a:solidFill>
              <a:srgbClr val="FFB84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ED89BA-E4AB-406D-AE47-E92BA0D0F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718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SELECT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C00F11-0AD7-4A06-8BBC-7C84968E2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956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FB84D"/>
                </a:solidFill>
              </a:defRPr>
            </a:pPr>
            <a:r>
              <a:rPr sz="3375" b="1">
                <a:solidFill>
                  <a:srgbClr val="FFB84D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5E67CF-6A04-4A9C-8EC6-A66681D7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717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2344C"/>
          </a:solidFill>
          <a:ln xmlns:a="http://schemas.openxmlformats.org/drawingml/2006/main" w="19050">
            <a:solidFill>
              <a:srgbClr val="38D9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2F5949-A7C0-410B-9E98-E96A0D4E1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9718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EXPLAIN + CHECK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57DDC3-4F67-4688-9A38-3AFAA2D0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B84D"/>
                </a:solidFill>
              </a:defRPr>
            </a:pPr>
            <a:r>
              <a:rPr sz="1875" b="1">
                <a:solidFill>
                  <a:srgbClr val="FFB84D"/>
                </a:solidFill>
              </a:rPr>
              <a:t>Sentence frame: The evidence shows… because… therefore…</a:t>
            </a:r>
          </a:p>
        </p:txBody>
      </p:sp>
    </p:spTree>
    <p:extLst>
      <p:ext uri="{BB962C8B-B14F-4D97-AF65-F5344CB8AC3E}">
        <p14:creationId xmlns:p14="http://schemas.microsoft.com/office/powerpoint/2010/main" val="18986760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607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79787B-20C3-4445-9285-A1D18B95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D9FF"/>
                </a:solidFill>
              </a:defRPr>
            </a:pPr>
            <a:r>
              <a:rPr sz="1125" b="1">
                <a:solidFill>
                  <a:srgbClr val="38D9FF"/>
                </a:solidFill>
              </a:rPr>
              <a:t>CRACK THE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BA486C-A749-41D0-8749-CF65DDC87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EC6D2"/>
                </a:solidFill>
              </a:defRPr>
            </a:pPr>
            <a:r>
              <a:rPr sz="1050" b="0">
                <a:solidFill>
                  <a:srgbClr val="AEC6D2"/>
                </a:solidFill>
              </a:rPr>
              <a:t>EXIT TICKET  ·  8/8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08CB53-82FD-4E6B-9D0E-77C4F4E4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Prove the idea before you leave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7997B0-EDCF-47C2-998E-0F07E8B4E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76500"/>
            <a:ext cx="9906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Draw the subsystems in one combined challenge.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C40590-5F7B-40FA-8D86-88E9D647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7200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D3F2F8"/>
                </a:solidFill>
              </a:defRPr>
            </a:pPr>
            <a:r>
              <a:rPr sz="1650" b="0">
                <a:solidFill>
                  <a:srgbClr val="D3F2F8"/>
                </a:solidFill>
              </a:rPr>
              <a:t>Then open the linked project activity and save one specific piece of evidence.</a:t>
            </a:r>
          </a:p>
        </p:txBody>
      </p:sp>
    </p:spTree>
    <p:extLst>
      <p:ext uri="{BB962C8B-B14F-4D97-AF65-F5344CB8AC3E}">
        <p14:creationId xmlns:p14="http://schemas.microsoft.com/office/powerpoint/2010/main" val="11000005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2026-08-10T16:18:01.7190000Z</dcterms:created>
  <dcterms:modified xsi:type="dcterms:W3CDTF">2026-08-10T16:18:01.7190000Z</dcterms:modified>
</coreProperties>
</file>